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f2187c504124620" /><Relationship Type="http://schemas.openxmlformats.org/officeDocument/2006/relationships/extended-properties" Target="/docProps/app.xml" Id="R9f0dfa91279a4da0" /><Relationship Type="http://schemas.openxmlformats.org/officeDocument/2006/relationships/officeDocument" Target="/ppt/presentation.xml" Id="R75b5df5359dc49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ddbb205af94a69"/>
  </p:sldMasterIdLst>
  <p:notesMasterIdLst>
    <p:notesMasterId xmlns:r="http://schemas.openxmlformats.org/officeDocument/2006/relationships" r:id="R7ae015d6f67d419f"/>
  </p:notesMasterIdLst>
  <p:sldIdLst>
    <p:sldId xmlns:r="http://schemas.openxmlformats.org/officeDocument/2006/relationships" id="256" r:id="R846bfd4c586c46cd"/>
    <p:sldId xmlns:r="http://schemas.openxmlformats.org/officeDocument/2006/relationships" id="257" r:id="Rc29ed58b74cf49d8"/>
    <p:sldId xmlns:r="http://schemas.openxmlformats.org/officeDocument/2006/relationships" id="258" r:id="R10353338a1754cc3"/>
    <p:sldId xmlns:r="http://schemas.openxmlformats.org/officeDocument/2006/relationships" id="259" r:id="Rb03cc082a0c74bd3"/>
    <p:sldId xmlns:r="http://schemas.openxmlformats.org/officeDocument/2006/relationships" id="260" r:id="R9998f7c1fae04354"/>
    <p:sldId xmlns:r="http://schemas.openxmlformats.org/officeDocument/2006/relationships" id="261" r:id="R82e4afc952594c54"/>
    <p:sldId xmlns:r="http://schemas.openxmlformats.org/officeDocument/2006/relationships" id="262" r:id="Racf8e2739a434e9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ddbb205af94a69" /><Relationship Type="http://schemas.openxmlformats.org/officeDocument/2006/relationships/theme" Target="/ppt/theme/theme1.xml" Id="R9d8d12e32b084cab" /><Relationship Type="http://schemas.openxmlformats.org/officeDocument/2006/relationships/notesMaster" Target="/ppt/notesMasters/notesMaster1.xml" Id="R7ae015d6f67d419f" /><Relationship Type="http://schemas.openxmlformats.org/officeDocument/2006/relationships/presProps" Target="/ppt/presProps.xml" Id="R9b8c564de3134d07" /><Relationship Type="http://schemas.openxmlformats.org/officeDocument/2006/relationships/viewProps" Target="/ppt/viewProps.xml" Id="R3d2c12bddcce43ac" /><Relationship Type="http://schemas.openxmlformats.org/officeDocument/2006/relationships/tableStyles" Target="/ppt/tableStyles.xml" Id="Ra1059a4ae2ab40dd" /><Relationship Type="http://schemas.openxmlformats.org/officeDocument/2006/relationships/slide" Target="/ppt/slides/slide1.xml" Id="R846bfd4c586c46cd" /><Relationship Type="http://schemas.openxmlformats.org/officeDocument/2006/relationships/slide" Target="/ppt/slides/slide2.xml" Id="Rc29ed58b74cf49d8" /><Relationship Type="http://schemas.openxmlformats.org/officeDocument/2006/relationships/slide" Target="/ppt/slides/slide3.xml" Id="R10353338a1754cc3" /><Relationship Type="http://schemas.openxmlformats.org/officeDocument/2006/relationships/slide" Target="/ppt/slides/slide4.xml" Id="Rb03cc082a0c74bd3" /><Relationship Type="http://schemas.openxmlformats.org/officeDocument/2006/relationships/slide" Target="/ppt/slides/slide5.xml" Id="R9998f7c1fae04354" /><Relationship Type="http://schemas.openxmlformats.org/officeDocument/2006/relationships/slide" Target="/ppt/slides/slide6.xml" Id="R82e4afc952594c54" /><Relationship Type="http://schemas.openxmlformats.org/officeDocument/2006/relationships/slide" Target="/ppt/slides/slide7.xml" Id="Racf8e2739a434e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0b4082e2b1947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fd8d8bdd814547" /><Relationship Type="http://schemas.openxmlformats.org/officeDocument/2006/relationships/notesMaster" Target="/ppt/notesMasters/notesMaster1.xml" Id="R2ec95a87db8c4b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c1a1bc17c04cb9" /><Relationship Type="http://schemas.openxmlformats.org/officeDocument/2006/relationships/notesMaster" Target="/ppt/notesMasters/notesMaster1.xml" Id="Rd097341ec60b41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42d0d354b14796" /><Relationship Type="http://schemas.openxmlformats.org/officeDocument/2006/relationships/notesMaster" Target="/ppt/notesMasters/notesMaster1.xml" Id="Rc2509e1c75874a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2d121c07d6c4e36" /><Relationship Type="http://schemas.openxmlformats.org/officeDocument/2006/relationships/notesMaster" Target="/ppt/notesMasters/notesMaster1.xml" Id="R518934d11c5e499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2460aa5dd2407d" /><Relationship Type="http://schemas.openxmlformats.org/officeDocument/2006/relationships/notesMaster" Target="/ppt/notesMasters/notesMaster1.xml" Id="Rf21f7e88eccb44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09556637934972" /><Relationship Type="http://schemas.openxmlformats.org/officeDocument/2006/relationships/notesMaster" Target="/ppt/notesMasters/notesMaster1.xml" Id="Re20699272c764a4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cfe16d4e24340ba" /><Relationship Type="http://schemas.openxmlformats.org/officeDocument/2006/relationships/notesMaster" Target="/ppt/notesMasters/notesMaster1.xml" Id="R3896b34e4c9745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webgl/要件定義書.md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webgl/要件定義書.md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webgl/要件定義書.md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webgl/要件定義書.md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webgl/要件定義書.md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webgl/要件定義書.md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webgl/要件定義書.md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d67c79b1374aa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92622CE8-93EC-4ED1-8773-CC7E93563898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4AF7C6FA-2408-4DD6-8145-D00969172AA9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05CC648-876B-410E-989F-409CAC780221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3CA785B-32D0-40C0-8A94-AD7EE01E4FC4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442A6E0-A331-4746-83A8-FA37612A975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bf8cf3a039bb45ec" /><Relationship Type="http://schemas.openxmlformats.org/officeDocument/2006/relationships/slideLayout" Target="/ppt/slideLayouts/slideLayout2.xml" Id="Ra1bd867553e34c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26DA41-D363-4F02-B0D1-52225258E112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bd867553e34c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1a51a4bc934ce2" /><Relationship Type="http://schemas.openxmlformats.org/officeDocument/2006/relationships/notesSlide" Target="/ppt/notesSlides/notesSlide1.xml" Id="R295376ce2bcb41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3de2f95b6a411c" /><Relationship Type="http://schemas.openxmlformats.org/officeDocument/2006/relationships/notesSlide" Target="/ppt/notesSlides/notesSlide2.xml" Id="Ref8868344f56479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fa93bda4604242" /><Relationship Type="http://schemas.openxmlformats.org/officeDocument/2006/relationships/notesSlide" Target="/ppt/notesSlides/notesSlide3.xml" Id="R31adee039d0746a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2b046efa7445a5" /><Relationship Type="http://schemas.openxmlformats.org/officeDocument/2006/relationships/notesSlide" Target="/ppt/notesSlides/notesSlide4.xml" Id="R9d06a86597db4a6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8aabe07e65481d" /><Relationship Type="http://schemas.openxmlformats.org/officeDocument/2006/relationships/notesSlide" Target="/ppt/notesSlides/notesSlide5.xml" Id="R5a765a95a5314f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07743f006c44c8" /><Relationship Type="http://schemas.openxmlformats.org/officeDocument/2006/relationships/notesSlide" Target="/ppt/notesSlides/notesSlide6.xml" Id="R83aa4f9192304ca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08c7f73edf41d7" /><Relationship Type="http://schemas.openxmlformats.org/officeDocument/2006/relationships/notesSlide" Target="/ppt/notesSlides/notesSlide7.xml" Id="R0abbf8a4c4af4c7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442A6E0-A331-4746-83A8-FA37612A97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3AA7CE-ABD0-4279-8CA6-80827663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457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04A"/>
          </a:solidFill>
          <a:ln xmlns:a="http://schemas.openxmlformats.org/drawingml/2006/main" w="0">
            <a:solidFill>
              <a:srgbClr val="2340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E42363-1F74-4DAD-952C-A4472538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0"/>
            <a:ext cx="773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DF"/>
          </a:solidFill>
          <a:ln xmlns:a="http://schemas.openxmlformats.org/drawingml/2006/main" w="0">
            <a:solidFill>
              <a:srgbClr val="DCE8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E8D5C8-39AD-4FCB-97AE-C558BA0B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838200"/>
            <a:ext cx="6286500" cy="5181600"/>
          </a:xfrm>
          <a:prstGeom xmlns:a="http://schemas.openxmlformats.org/drawingml/2006/main" prst="roundRect">
            <a:avLst>
              <a:gd name="adj" fmla="val 1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4C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BEFAD6-7A5B-4FA5-B426-2AC25CF6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D7CC78-E674-4AF6-A21D-1957FA95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19200"/>
            <a:ext cx="29718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空き家3Dリフォーム</a:t>
            </a:r>
          </a:p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提案Webサービス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7A0D1D-64C4-44A2-9D9E-00E7E6B42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29908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7EFEA"/>
                </a:solidFill>
              </a:defRPr>
            </a:pPr>
            <a:r>
              <a:rPr sz="1425" b="0">
                <a:solidFill>
                  <a:srgbClr val="E7EFEA"/>
                </a:solidFill>
              </a:rPr>
              <a:t>要件定義を、関係者が短時間で共有できる 16:9 スライドに再構成。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5C6365-BA95-4FF0-A7B7-31D9A0A3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243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B15E"/>
                </a:solidFill>
              </a:defRPr>
            </a:pPr>
            <a:r>
              <a:rPr sz="1050" b="1">
                <a:solidFill>
                  <a:srgbClr val="D6B15E"/>
                </a:solidFill>
              </a:rPr>
              <a:t>対象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5A0B9E-A9C4-4E6F-8723-9169211E0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10100"/>
            <a:ext cx="3048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移住希望者 / 自治体 / 不動産 / 所有者 / リフォーム事業者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F409C3-D790-4C2A-866D-769A94E9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162050"/>
            <a:ext cx="5467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2126"/>
                </a:solidFill>
              </a:defRPr>
            </a:pPr>
            <a:r>
              <a:rPr sz="1950" b="1">
                <a:solidFill>
                  <a:srgbClr val="182126"/>
                </a:solidFill>
              </a:rPr>
              <a:t>3D空間情報を基準に、現況の見え方で損をしている物件へ</a:t>
            </a:r>
          </a:p>
          <a:p xmlns:a="http://schemas.openxmlformats.org/drawingml/2006/main">
            <a:pPr algn="l">
              <a:defRPr sz="1950" b="1">
                <a:solidFill>
                  <a:srgbClr val="182126"/>
                </a:solidFill>
              </a:defRPr>
            </a:pPr>
            <a:r>
              <a:rPr sz="1950" b="1">
                <a:solidFill>
                  <a:srgbClr val="182126"/>
                </a:solidFill>
              </a:rPr>
              <a:t>“住んだ後のイメージ”を提示する。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A82F47-756C-41C5-9735-DABF4114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324100"/>
            <a:ext cx="13525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CE8DF"/>
          </a:solidFill>
          <a:ln xmlns:a="http://schemas.openxmlformats.org/drawingml/2006/main" w="0">
            <a:solidFill>
              <a:srgbClr val="DCE8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C1EE70-BE05-48AF-AB8D-6FC842ED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40030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3404A"/>
                </a:solidFill>
              </a:defRPr>
            </a:pPr>
            <a:r>
              <a:rPr sz="900" b="1">
                <a:solidFill>
                  <a:srgbClr val="23404A"/>
                </a:solidFill>
              </a:rPr>
              <a:t>3D基準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BAD0C6-BE0A-4B0A-908E-7AD32358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24100"/>
            <a:ext cx="1600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E7CC"/>
          </a:solidFill>
          <a:ln xmlns:a="http://schemas.openxmlformats.org/drawingml/2006/main" w="0">
            <a:solidFill>
              <a:srgbClr val="F4E7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CD86A4-D92E-4935-8148-3385E8F0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4003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3404A"/>
                </a:solidFill>
              </a:defRPr>
            </a:pPr>
            <a:r>
              <a:rPr sz="900" b="1">
                <a:solidFill>
                  <a:srgbClr val="23404A"/>
                </a:solidFill>
              </a:rPr>
              <a:t>視点固定比較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316337-5072-4157-A926-EAB59B24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24100"/>
            <a:ext cx="2038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2DDD2"/>
          </a:solidFill>
          <a:ln xmlns:a="http://schemas.openxmlformats.org/drawingml/2006/main" w="0">
            <a:solidFill>
              <a:srgbClr val="F2DD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079171-F2BD-40D9-B279-0F51230B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00300"/>
            <a:ext cx="1771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3404A"/>
                </a:solidFill>
              </a:defRPr>
            </a:pPr>
            <a:r>
              <a:rPr sz="900" b="1">
                <a:solidFill>
                  <a:srgbClr val="23404A"/>
                </a:solidFill>
              </a:rPr>
              <a:t>ローカルAI編集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06B976-F734-4B3A-9071-8472A5B1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952750"/>
            <a:ext cx="24955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4C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52A4C8-E220-4CB3-BD54-00A14989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952750"/>
            <a:ext cx="2495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F75"/>
          </a:solidFill>
          <a:ln xmlns:a="http://schemas.openxmlformats.org/drawingml/2006/main" w="0">
            <a:solidFill>
              <a:srgbClr val="4B8F7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BC2C40-B75C-4E6D-A539-1161D9E85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14325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404A"/>
                </a:solidFill>
              </a:defRPr>
            </a:pPr>
            <a:r>
              <a:rPr sz="1125" b="1">
                <a:solidFill>
                  <a:srgbClr val="23404A"/>
                </a:solidFill>
              </a:rPr>
              <a:t>解く課題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5542B4-3E4D-4B8D-9550-CC46A480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505200"/>
            <a:ext cx="2076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6"/>
                </a:solidFill>
              </a:defRPr>
            </a:pPr>
            <a:r>
              <a:rPr sz="1275" b="0">
                <a:solidFill>
                  <a:srgbClr val="182126"/>
                </a:solidFill>
              </a:rPr>
              <a:t>古い内装の第一印象だけで、空き家の魅力が過小評価される。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D5D0E3-55EB-4A0A-9766-D7E2CDC7A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52750"/>
            <a:ext cx="28194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4C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4D0127-EECC-4497-A0A9-3F43D9239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52750"/>
            <a:ext cx="2819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B15E"/>
          </a:solidFill>
          <a:ln xmlns:a="http://schemas.openxmlformats.org/drawingml/2006/main" w="0">
            <a:solidFill>
              <a:srgbClr val="D6B15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033E0F-A43C-4EB1-9B06-DABD75B1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43250"/>
            <a:ext cx="2400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126"/>
                </a:solidFill>
              </a:defRPr>
            </a:pPr>
            <a:r>
              <a:rPr sz="1125" b="1">
                <a:solidFill>
                  <a:srgbClr val="182126"/>
                </a:solidFill>
              </a:rPr>
              <a:t>提供価値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3DA728-1282-467E-B30A-679D7269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05200"/>
            <a:ext cx="2400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6"/>
                </a:solidFill>
              </a:defRPr>
            </a:pPr>
            <a:r>
              <a:rPr sz="1275" b="0">
                <a:solidFill>
                  <a:srgbClr val="182126"/>
                </a:solidFill>
              </a:rPr>
              <a:t>リフォーム後の仮説を同一視点で比較し、意思決定のたたき台にする。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C1E6FF-43CB-4908-82E0-608537E0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343400"/>
            <a:ext cx="54673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4C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A14FA1-E68C-4B0F-9DAE-084203AE8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343400"/>
            <a:ext cx="5467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A63"/>
          </a:solidFill>
          <a:ln xmlns:a="http://schemas.openxmlformats.org/drawingml/2006/main" w="0">
            <a:solidFill>
              <a:srgbClr val="D98A6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4CF328-545C-4FF4-AD63-DBBDF39AC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533900"/>
            <a:ext cx="504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404A"/>
                </a:solidFill>
              </a:defRPr>
            </a:pPr>
            <a:r>
              <a:rPr sz="1125" b="1">
                <a:solidFill>
                  <a:srgbClr val="23404A"/>
                </a:solidFill>
              </a:rPr>
              <a:t>MVPの着地点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A6017F-E04D-4E23-9050-A6B689092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895850"/>
            <a:ext cx="504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6"/>
                </a:solidFill>
              </a:defRPr>
            </a:pPr>
            <a:r>
              <a:rPr sz="1275" b="0">
                <a:solidFill>
                  <a:srgbClr val="182126"/>
                </a:solidFill>
              </a:rPr>
              <a:t>`.glb` 表示、視点キャプチャ、深度・マスク取得、単一視点の画像生成、Before / After 比較までを初期リリース対象とする。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682A5A-5AFD-43AA-AD0E-6A23C074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438900"/>
            <a:ext cx="2343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C7A80"/>
                </a:solidFill>
              </a:defRPr>
            </a:pPr>
            <a:r>
              <a:rPr sz="675" b="0">
                <a:solidFill>
                  <a:srgbClr val="6C7A80"/>
                </a:solidFill>
              </a:rPr>
              <a:t>Source: webgl/要件定義書.md</a:t>
            </a:r>
          </a:p>
        </p:txBody>
      </p:sp>
    </p:spTree>
    <p:extLst>
      <p:ext uri="{BB962C8B-B14F-4D97-AF65-F5344CB8AC3E}">
        <p14:creationId xmlns:p14="http://schemas.microsoft.com/office/powerpoint/2010/main" val="1819437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442A6E0-A331-4746-83A8-FA37612A97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516FC5-6876-4D7A-AF60-12F5D197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04A"/>
          </a:solidFill>
          <a:ln xmlns:a="http://schemas.openxmlformats.org/drawingml/2006/main" w="0">
            <a:solidFill>
              <a:srgbClr val="2340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02B5BB-02C5-435A-BA2C-B9FBDFFC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B15E"/>
          </a:solidFill>
          <a:ln xmlns:a="http://schemas.openxmlformats.org/drawingml/2006/main" w="0">
            <a:solidFill>
              <a:srgbClr val="D6B15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6515CD-A81B-4C0C-BDD2-F7194E1E5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76200" cy="516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F75"/>
          </a:solidFill>
          <a:ln xmlns:a="http://schemas.openxmlformats.org/drawingml/2006/main" w="0">
            <a:solidFill>
              <a:srgbClr val="4B8F7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2763B1-2CE1-4F0D-AB79-963025B23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CHALLENGE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2EBE59-D7FF-40D3-B837-62E24761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8575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02 / 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12D928-D128-45C4-BAB8-78FEC5FE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00150"/>
            <a:ext cx="7239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126"/>
                </a:solidFill>
              </a:defRPr>
            </a:pPr>
            <a:r>
              <a:rPr sz="2250" b="1">
                <a:solidFill>
                  <a:srgbClr val="182126"/>
                </a:solidFill>
              </a:rPr>
              <a:t>課題と利用者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9C858F-B9E7-4742-8FDF-F3C442586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4535C"/>
                </a:solidFill>
              </a:defRPr>
            </a:pPr>
            <a:r>
              <a:rPr sz="1275" b="0">
                <a:solidFill>
                  <a:srgbClr val="44535C"/>
                </a:solidFill>
              </a:rPr>
              <a:t>現況の見え方に引っ張られる判断を、3Dベースの比較材料で補う。 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8A5EB9-B093-4809-9E0F-EBF3F438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438900"/>
            <a:ext cx="2343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C7A80"/>
                </a:solidFill>
              </a:defRPr>
            </a:pPr>
            <a:r>
              <a:rPr sz="675" b="0">
                <a:solidFill>
                  <a:srgbClr val="6C7A80"/>
                </a:solidFill>
              </a:rPr>
              <a:t>Source: webgl/要件定義書.md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480ED3-D74D-4C82-954E-F4F85502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32575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4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7A9003-C480-4989-B333-C7F4EDD3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3257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F75"/>
          </a:solidFill>
          <a:ln xmlns:a="http://schemas.openxmlformats.org/drawingml/2006/main" w="0">
            <a:solidFill>
              <a:srgbClr val="4B8F7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30E3AA-2E35-4E75-B1C2-D8882661D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48000"/>
            <a:ext cx="2838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404A"/>
                </a:solidFill>
              </a:defRPr>
            </a:pPr>
            <a:r>
              <a:rPr sz="1125" b="1">
                <a:solidFill>
                  <a:srgbClr val="23404A"/>
                </a:solidFill>
              </a:rPr>
              <a:t>現場の課題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CCCFA1-3252-4B5F-8ECD-874D5402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09950"/>
            <a:ext cx="28384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6"/>
                </a:solidFill>
              </a:defRPr>
            </a:pPr>
            <a:r>
              <a:rPr sz="1275" b="0">
                <a:solidFill>
                  <a:srgbClr val="182126"/>
                </a:solidFill>
              </a:rPr>
              <a:t>• 古い・汚れた内装で魅力が伝わりにくい</a:t>
            </a:r>
          </a:p>
          <a:p xmlns:a="http://schemas.openxmlformats.org/drawingml/2006/main">
            <a:pPr algn="l">
              <a:defRPr sz="1275" b="0">
                <a:solidFill>
                  <a:srgbClr val="182126"/>
                </a:solidFill>
              </a:defRPr>
            </a:pPr>
            <a:r>
              <a:rPr sz="1275" b="0">
                <a:solidFill>
                  <a:srgbClr val="182126"/>
                </a:solidFill>
              </a:rPr>
              <a:t>• 現地内見前に生活イメージを持ちにくい</a:t>
            </a:r>
          </a:p>
          <a:p xmlns:a="http://schemas.openxmlformats.org/drawingml/2006/main">
            <a:pPr algn="l">
              <a:defRPr sz="1275" b="0">
                <a:solidFill>
                  <a:srgbClr val="182126"/>
                </a:solidFill>
              </a:defRPr>
            </a:pPr>
            <a:r>
              <a:rPr sz="1275" b="0">
                <a:solidFill>
                  <a:srgbClr val="182126"/>
                </a:solidFill>
              </a:rPr>
              <a:t>• 関係者ごとの解像度が揃わない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2E9ECA-A830-4599-AC8D-D664CA05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57500"/>
            <a:ext cx="32575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4C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D69FCB-CC22-4CEB-B08A-5428D700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57500"/>
            <a:ext cx="3257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B15E"/>
          </a:solidFill>
          <a:ln xmlns:a="http://schemas.openxmlformats.org/drawingml/2006/main" w="0">
            <a:solidFill>
              <a:srgbClr val="D6B15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72A03F-BC01-4CD1-801D-D70E2F5D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48000"/>
            <a:ext cx="2838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126"/>
                </a:solidFill>
              </a:defRPr>
            </a:pPr>
            <a:r>
              <a:rPr sz="1125" b="1">
                <a:solidFill>
                  <a:srgbClr val="182126"/>
                </a:solidFill>
              </a:rPr>
              <a:t>主な利用者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54BA72-AD6E-486A-BF79-835B5C6D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09950"/>
            <a:ext cx="28384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6"/>
                </a:solidFill>
              </a:defRPr>
            </a:pPr>
            <a:r>
              <a:rPr sz="1275" b="0">
                <a:solidFill>
                  <a:srgbClr val="182126"/>
                </a:solidFill>
              </a:rPr>
              <a:t>• 移住希望者</a:t>
            </a:r>
          </a:p>
          <a:p xmlns:a="http://schemas.openxmlformats.org/drawingml/2006/main">
            <a:pPr algn="l">
              <a:defRPr sz="1275" b="0">
                <a:solidFill>
                  <a:srgbClr val="182126"/>
                </a:solidFill>
              </a:defRPr>
            </a:pPr>
            <a:r>
              <a:rPr sz="1275" b="0">
                <a:solidFill>
                  <a:srgbClr val="182126"/>
                </a:solidFill>
              </a:rPr>
              <a:t>• 空き家所有者</a:t>
            </a:r>
          </a:p>
          <a:p xmlns:a="http://schemas.openxmlformats.org/drawingml/2006/main">
            <a:pPr algn="l">
              <a:defRPr sz="1275" b="0">
                <a:solidFill>
                  <a:srgbClr val="182126"/>
                </a:solidFill>
              </a:defRPr>
            </a:pPr>
            <a:r>
              <a:rPr sz="1275" b="0">
                <a:solidFill>
                  <a:srgbClr val="182126"/>
                </a:solidFill>
              </a:rPr>
              <a:t>• 自治体の移住促進担当</a:t>
            </a:r>
          </a:p>
          <a:p xmlns:a="http://schemas.openxmlformats.org/drawingml/2006/main">
            <a:pPr algn="l">
              <a:defRPr sz="1275" b="0">
                <a:solidFill>
                  <a:srgbClr val="182126"/>
                </a:solidFill>
              </a:defRPr>
            </a:pPr>
            <a:r>
              <a:rPr sz="1275" b="0">
                <a:solidFill>
                  <a:srgbClr val="182126"/>
                </a:solidFill>
              </a:rPr>
              <a:t>• 不動産事業者</a:t>
            </a:r>
          </a:p>
          <a:p xmlns:a="http://schemas.openxmlformats.org/drawingml/2006/main">
            <a:pPr algn="l">
              <a:defRPr sz="1275" b="0">
                <a:solidFill>
                  <a:srgbClr val="182126"/>
                </a:solidFill>
              </a:defRPr>
            </a:pPr>
            <a:r>
              <a:rPr sz="1275" b="0">
                <a:solidFill>
                  <a:srgbClr val="182126"/>
                </a:solidFill>
              </a:rPr>
              <a:t>• リフォーム事業者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963FB7-EFB5-4AFE-A154-4D5D139A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57500"/>
            <a:ext cx="327660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4C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B24682-331D-4227-9764-25B81A15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57500"/>
            <a:ext cx="3276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A63"/>
          </a:solidFill>
          <a:ln xmlns:a="http://schemas.openxmlformats.org/drawingml/2006/main" w="0">
            <a:solidFill>
              <a:srgbClr val="D98A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5120AA-ED21-40AA-B843-E7E7940E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480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404A"/>
                </a:solidFill>
              </a:defRPr>
            </a:pPr>
            <a:r>
              <a:rPr sz="1125" b="1">
                <a:solidFill>
                  <a:srgbClr val="23404A"/>
                </a:solidFill>
              </a:rPr>
              <a:t>判断を支える観点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0966EF-3253-4901-8669-AD99BD7E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09950"/>
            <a:ext cx="28575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6"/>
                </a:solidFill>
              </a:defRPr>
            </a:pPr>
            <a:r>
              <a:rPr sz="1275" b="0">
                <a:solidFill>
                  <a:srgbClr val="182126"/>
                </a:solidFill>
              </a:rPr>
              <a:t>• 同一視点で現況と改修案を比較</a:t>
            </a:r>
          </a:p>
          <a:p xmlns:a="http://schemas.openxmlformats.org/drawingml/2006/main">
            <a:pPr algn="l">
              <a:defRPr sz="1275" b="0">
                <a:solidFill>
                  <a:srgbClr val="182126"/>
                </a:solidFill>
              </a:defRPr>
            </a:pPr>
            <a:r>
              <a:rPr sz="1275" b="0">
                <a:solidFill>
                  <a:srgbClr val="182126"/>
                </a:solidFill>
              </a:rPr>
              <a:t>• 施工前の共通認識を作る</a:t>
            </a:r>
          </a:p>
          <a:p xmlns:a="http://schemas.openxmlformats.org/drawingml/2006/main">
            <a:pPr algn="l">
              <a:defRPr sz="1275" b="0">
                <a:solidFill>
                  <a:srgbClr val="182126"/>
                </a:solidFill>
              </a:defRPr>
            </a:pPr>
            <a:r>
              <a:rPr sz="1275" b="0">
                <a:solidFill>
                  <a:srgbClr val="182126"/>
                </a:solidFill>
              </a:rPr>
              <a:t>• 候補物件の絞り込みを支援</a:t>
            </a:r>
          </a:p>
        </p:txBody>
      </p:sp>
    </p:spTree>
    <p:extLst>
      <p:ext uri="{BB962C8B-B14F-4D97-AF65-F5344CB8AC3E}">
        <p14:creationId xmlns:p14="http://schemas.microsoft.com/office/powerpoint/2010/main" val="17857164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442A6E0-A331-4746-83A8-FA37612A97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1BB549-C832-4794-9766-13474157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04A"/>
          </a:solidFill>
          <a:ln xmlns:a="http://schemas.openxmlformats.org/drawingml/2006/main" w="0">
            <a:solidFill>
              <a:srgbClr val="2340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F59DD3-FE61-4ECC-B620-1FBD4FB2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B15E"/>
          </a:solidFill>
          <a:ln xmlns:a="http://schemas.openxmlformats.org/drawingml/2006/main" w="0">
            <a:solidFill>
              <a:srgbClr val="D6B15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473FBB-D804-4970-B609-94E22BF7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76200" cy="516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F75"/>
          </a:solidFill>
          <a:ln xmlns:a="http://schemas.openxmlformats.org/drawingml/2006/main" w="0">
            <a:solidFill>
              <a:srgbClr val="4B8F7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783455-B490-4ABD-88DF-3DC11DEE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VALUE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7BD0BC-4E80-4501-926F-76397A58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8575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03 / 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C48A3E-B99E-433D-8BA9-AE5F65EB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00150"/>
            <a:ext cx="7239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126"/>
                </a:solidFill>
              </a:defRPr>
            </a:pPr>
            <a:r>
              <a:rPr sz="2250" b="1">
                <a:solidFill>
                  <a:srgbClr val="182126"/>
                </a:solidFill>
              </a:rPr>
              <a:t>提供価値とシステム範囲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E10265-77EF-4978-A6EE-AD1235B3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4535C"/>
                </a:solidFill>
              </a:defRPr>
            </a:pPr>
            <a:r>
              <a:rPr sz="1275" b="0">
                <a:solidFill>
                  <a:srgbClr val="44535C"/>
                </a:solidFill>
              </a:rPr>
              <a:t>画像生成だけでなく、3D空間・視点・深度・編集範囲を扱うことが前提。 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B3D707-D353-48F6-BD8D-4AB26300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438900"/>
            <a:ext cx="2343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C7A80"/>
                </a:solidFill>
              </a:defRPr>
            </a:pPr>
            <a:r>
              <a:rPr sz="675" b="0">
                <a:solidFill>
                  <a:srgbClr val="6C7A80"/>
                </a:solidFill>
              </a:rPr>
              <a:t>Source: webgl/要件定義書.md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ABDFDC-DDB7-4CC6-92F9-3A1D9E7F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19400"/>
            <a:ext cx="49530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4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1A7CAE-4FDA-484E-8F5A-9A15286D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19400"/>
            <a:ext cx="4953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F75"/>
          </a:solidFill>
          <a:ln xmlns:a="http://schemas.openxmlformats.org/drawingml/2006/main" w="0">
            <a:solidFill>
              <a:srgbClr val="4B8F7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3D2F81-F69B-47FD-87A4-379550FD2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09900"/>
            <a:ext cx="4533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404A"/>
                </a:solidFill>
              </a:defRPr>
            </a:pPr>
            <a:r>
              <a:rPr sz="1125" b="1">
                <a:solidFill>
                  <a:srgbClr val="23404A"/>
                </a:solidFill>
              </a:rPr>
              <a:t>提供価値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40CF1B-2E20-4C86-9941-7C37441D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71850"/>
            <a:ext cx="4533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6"/>
                </a:solidFill>
              </a:defRPr>
            </a:pPr>
            <a:r>
              <a:rPr sz="1275" b="0">
                <a:solidFill>
                  <a:srgbClr val="182126"/>
                </a:solidFill>
              </a:rPr>
              <a:t>• 3D空間に基づく自然なリフォーム後イメージ</a:t>
            </a:r>
          </a:p>
          <a:p xmlns:a="http://schemas.openxmlformats.org/drawingml/2006/main">
            <a:pPr algn="l">
              <a:defRPr sz="1275" b="0">
                <a:solidFill>
                  <a:srgbClr val="182126"/>
                </a:solidFill>
              </a:defRPr>
            </a:pPr>
            <a:r>
              <a:rPr sz="1275" b="0">
                <a:solidFill>
                  <a:srgbClr val="182126"/>
                </a:solidFill>
              </a:rPr>
              <a:t>• 壁・床・天井・設備・家具の変更を自然言語で指定</a:t>
            </a:r>
          </a:p>
          <a:p xmlns:a="http://schemas.openxmlformats.org/drawingml/2006/main">
            <a:pPr algn="l">
              <a:defRPr sz="1275" b="0">
                <a:solidFill>
                  <a:srgbClr val="182126"/>
                </a:solidFill>
              </a:defRPr>
            </a:pPr>
            <a:r>
              <a:rPr sz="1275" b="0">
                <a:solidFill>
                  <a:srgbClr val="182126"/>
                </a:solidFill>
              </a:rPr>
              <a:t>• 生成結果を視点情報と紐付けて保存・再利用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6B32D8-B7EE-42AC-9D05-A609B3C7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19400"/>
            <a:ext cx="51816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4C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EF2F27-37CF-4929-A451-22A229B1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19400"/>
            <a:ext cx="5181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B15E"/>
          </a:solidFill>
          <a:ln xmlns:a="http://schemas.openxmlformats.org/drawingml/2006/main" w="0">
            <a:solidFill>
              <a:srgbClr val="D6B15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96F8F4-22E8-45E5-AE53-5DC9C5CA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0990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126"/>
                </a:solidFill>
              </a:defRPr>
            </a:pPr>
            <a:r>
              <a:rPr sz="1125" b="1">
                <a:solidFill>
                  <a:srgbClr val="182126"/>
                </a:solidFill>
              </a:rPr>
              <a:t>対象範囲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1D2977-663F-4776-A2C7-57447B1C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71850"/>
            <a:ext cx="476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6"/>
                </a:solidFill>
              </a:defRPr>
            </a:pPr>
            <a:r>
              <a:rPr sz="1275" b="0">
                <a:solidFill>
                  <a:srgbClr val="182126"/>
                </a:solidFill>
              </a:rPr>
              <a:t>• `.glb` のブラウザ表示</a:t>
            </a:r>
          </a:p>
          <a:p xmlns:a="http://schemas.openxmlformats.org/drawingml/2006/main">
            <a:pPr algn="l">
              <a:defRPr sz="1275" b="0">
                <a:solidFill>
                  <a:srgbClr val="182126"/>
                </a:solidFill>
              </a:defRPr>
            </a:pPr>
            <a:r>
              <a:rPr sz="1275" b="0">
                <a:solidFill>
                  <a:srgbClr val="182126"/>
                </a:solidFill>
              </a:rPr>
              <a:t>• 視点 / 深度 / スクリーンショット / クリック座標の取得</a:t>
            </a:r>
          </a:p>
          <a:p xmlns:a="http://schemas.openxmlformats.org/drawingml/2006/main">
            <a:pPr algn="l">
              <a:defRPr sz="1275" b="0">
                <a:solidFill>
                  <a:srgbClr val="182126"/>
                </a:solidFill>
              </a:defRPr>
            </a:pPr>
            <a:r>
              <a:rPr sz="1275" b="0">
                <a:solidFill>
                  <a:srgbClr val="182126"/>
                </a:solidFill>
              </a:rPr>
              <a:t>• 編集領域指定、ローカルAI画像編集、結果保存と再表示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2A2D7B-7F62-4087-BBF8-681109D0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2450"/>
            <a:ext cx="49530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4C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195311-56F6-4BC1-9DF8-ECE0E0E3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2450"/>
            <a:ext cx="4953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A63"/>
          </a:solidFill>
          <a:ln xmlns:a="http://schemas.openxmlformats.org/drawingml/2006/main" w="0">
            <a:solidFill>
              <a:srgbClr val="D98A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D11259-0D2A-43F4-A793-F50C35D3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52950"/>
            <a:ext cx="4533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404A"/>
                </a:solidFill>
              </a:defRPr>
            </a:pPr>
            <a:r>
              <a:rPr sz="1125" b="1">
                <a:solidFill>
                  <a:srgbClr val="23404A"/>
                </a:solidFill>
              </a:rPr>
              <a:t>対象外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DBC7C5-7A22-4C68-8F2E-1661A25FE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14900"/>
            <a:ext cx="4533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6"/>
                </a:solidFill>
              </a:defRPr>
            </a:pPr>
            <a:r>
              <a:rPr sz="1275" b="0">
                <a:solidFill>
                  <a:srgbClr val="182126"/>
                </a:solidFill>
              </a:rPr>
              <a:t>• 構造安全性の保証</a:t>
            </a:r>
          </a:p>
          <a:p xmlns:a="http://schemas.openxmlformats.org/drawingml/2006/main">
            <a:pPr algn="l">
              <a:defRPr sz="1275" b="0">
                <a:solidFill>
                  <a:srgbClr val="182126"/>
                </a:solidFill>
              </a:defRPr>
            </a:pPr>
            <a:r>
              <a:rPr sz="1275" b="0">
                <a:solidFill>
                  <a:srgbClr val="182126"/>
                </a:solidFill>
              </a:rPr>
              <a:t>• 実工事見積もりの自動算出</a:t>
            </a:r>
          </a:p>
          <a:p xmlns:a="http://schemas.openxmlformats.org/drawingml/2006/main">
            <a:pPr algn="l">
              <a:defRPr sz="1275" b="0">
                <a:solidFill>
                  <a:srgbClr val="182126"/>
                </a:solidFill>
              </a:defRPr>
            </a:pPr>
            <a:r>
              <a:rPr sz="1275" b="0">
                <a:solidFill>
                  <a:srgbClr val="182126"/>
                </a:solidFill>
              </a:rPr>
              <a:t>• 完全自由視点で破綻しないリアルタイム生成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0C85D5-4904-497A-9E22-93E4BEB5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62450"/>
            <a:ext cx="51816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4C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9D65EC-A8EC-422F-AC31-13561C7D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62450"/>
            <a:ext cx="5181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04A"/>
          </a:solidFill>
          <a:ln xmlns:a="http://schemas.openxmlformats.org/drawingml/2006/main" w="0">
            <a:solidFill>
              <a:srgbClr val="2340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7979DF-1932-4347-AEE6-99719D8B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529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404A"/>
                </a:solidFill>
              </a:defRPr>
            </a:pPr>
            <a:r>
              <a:rPr sz="1125" b="1">
                <a:solidFill>
                  <a:srgbClr val="23404A"/>
                </a:solidFill>
              </a:rPr>
              <a:t>基本思想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DCBFA4-AEC7-4FE9-897C-F430AEE8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14900"/>
            <a:ext cx="476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6"/>
                </a:solidFill>
              </a:defRPr>
            </a:pPr>
            <a:r>
              <a:rPr sz="1275" b="0">
                <a:solidFill>
                  <a:srgbClr val="182126"/>
                </a:solidFill>
              </a:rPr>
              <a:t>3Dモデルを正解データとして扱い、その上に生成AIの提案レイヤーを重ねる。見た目の印象改善ではなく、比較可能な検討素材の提供を狙う。</a:t>
            </a:r>
          </a:p>
        </p:txBody>
      </p:sp>
    </p:spTree>
    <p:extLst>
      <p:ext uri="{BB962C8B-B14F-4D97-AF65-F5344CB8AC3E}">
        <p14:creationId xmlns:p14="http://schemas.microsoft.com/office/powerpoint/2010/main" val="13703555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442A6E0-A331-4746-83A8-FA37612A97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8EBEFE-3BB5-4D9E-9B77-87B648D1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04A"/>
          </a:solidFill>
          <a:ln xmlns:a="http://schemas.openxmlformats.org/drawingml/2006/main" w="0">
            <a:solidFill>
              <a:srgbClr val="2340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8967CF-E091-49C3-A712-F825C1086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B15E"/>
          </a:solidFill>
          <a:ln xmlns:a="http://schemas.openxmlformats.org/drawingml/2006/main" w="0">
            <a:solidFill>
              <a:srgbClr val="D6B15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E2E1EB-F3EA-46DE-9998-6E509349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76200" cy="516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F75"/>
          </a:solidFill>
          <a:ln xmlns:a="http://schemas.openxmlformats.org/drawingml/2006/main" w="0">
            <a:solidFill>
              <a:srgbClr val="4B8F7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B0C318-2B0D-4401-B8FD-5FAFD0BA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B4B0FF-756C-4AF5-B38D-04B373D4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8575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04 / 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2F0631-CC42-4E5C-9D53-76776959D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00150"/>
            <a:ext cx="7239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126"/>
                </a:solidFill>
              </a:defRPr>
            </a:pPr>
            <a:r>
              <a:rPr sz="2250" b="1">
                <a:solidFill>
                  <a:srgbClr val="182126"/>
                </a:solidFill>
              </a:rPr>
              <a:t>想定ユースケース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B96443-01A5-44E3-A631-8348F346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4535C"/>
                </a:solidFill>
              </a:defRPr>
            </a:pPr>
            <a:r>
              <a:rPr sz="1275" b="0">
                <a:solidFill>
                  <a:srgbClr val="44535C"/>
                </a:solidFill>
              </a:rPr>
              <a:t>物件登録から比較表示までを、単一視点中心のワークフローとして定義。 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B73556-CDBE-4AF3-ACC1-29E22A0E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438900"/>
            <a:ext cx="2343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C7A80"/>
                </a:solidFill>
              </a:defRPr>
            </a:pPr>
            <a:r>
              <a:rPr sz="675" b="0">
                <a:solidFill>
                  <a:srgbClr val="6C7A80"/>
                </a:solidFill>
              </a:rPr>
              <a:t>Source: webgl/要件定義書.md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3F56E6-2D6C-4F72-A04C-2C1EA912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14700"/>
            <a:ext cx="18669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4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F72A33-6F43-4EE0-A173-66EADCB0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052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8F75"/>
          </a:solidFill>
          <a:ln xmlns:a="http://schemas.openxmlformats.org/drawingml/2006/main" w="0">
            <a:solidFill>
              <a:srgbClr val="4B8F7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080ECD-14C6-4666-9A5A-84606606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81400"/>
            <a:ext cx="438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B00AC5-0263-4C95-9A59-A23D9F28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14800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3404A"/>
                </a:solidFill>
              </a:defRPr>
            </a:pPr>
            <a:r>
              <a:rPr sz="1200" b="1">
                <a:solidFill>
                  <a:srgbClr val="23404A"/>
                </a:solidFill>
              </a:rPr>
              <a:t>3Dスキャン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58866B-A644-4748-9F2F-B762B033D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7675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126"/>
                </a:solidFill>
              </a:defRPr>
            </a:pPr>
            <a:r>
              <a:rPr sz="1125" b="0">
                <a:solidFill>
                  <a:srgbClr val="182126"/>
                </a:solidFill>
              </a:rPr>
              <a:t>物件担当者が空き家をスキャンし `.glb` を作成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4C60AC-35D2-4DF8-84E6-1609E311C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114800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6B15E"/>
          </a:solidFill>
          <a:ln xmlns:a="http://schemas.openxmlformats.org/drawingml/2006/main" w="0">
            <a:solidFill>
              <a:srgbClr val="D6B15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886971-5230-4CC8-937E-BEA4667D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314700"/>
            <a:ext cx="18669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4C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F8D36F-AE0E-47C0-B8B4-EA9F3000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5052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8F75"/>
          </a:solidFill>
          <a:ln xmlns:a="http://schemas.openxmlformats.org/drawingml/2006/main" w="0">
            <a:solidFill>
              <a:srgbClr val="4B8F7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BED91B-372A-4338-9825-7154C335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581400"/>
            <a:ext cx="438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71AC96-2385-413B-B778-FE01A95A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114800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3404A"/>
                </a:solidFill>
              </a:defRPr>
            </a:pPr>
            <a:r>
              <a:rPr sz="1200" b="1">
                <a:solidFill>
                  <a:srgbClr val="23404A"/>
                </a:solidFill>
              </a:rPr>
              <a:t>視点決定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DD6A3F-3A97-4453-A014-2F082B6A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7675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126"/>
                </a:solidFill>
              </a:defRPr>
            </a:pPr>
            <a:r>
              <a:rPr sz="1125" b="0">
                <a:solidFill>
                  <a:srgbClr val="182126"/>
                </a:solidFill>
              </a:rPr>
              <a:t>Web上で 3D モデルを表示し、見たい視点を固定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3BD81D-C7D3-4C1A-923F-799D0CD6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114800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6B15E"/>
          </a:solidFill>
          <a:ln xmlns:a="http://schemas.openxmlformats.org/drawingml/2006/main" w="0">
            <a:solidFill>
              <a:srgbClr val="D6B15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224A15-5FB3-4792-B9C6-5FBB60D9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14700"/>
            <a:ext cx="18669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4C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873F97-6F90-4374-9E8C-E220978E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5052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8F75"/>
          </a:solidFill>
          <a:ln xmlns:a="http://schemas.openxmlformats.org/drawingml/2006/main" w="0">
            <a:solidFill>
              <a:srgbClr val="4B8F7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8324CB-2C83-4A29-BE89-E16772FF9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581400"/>
            <a:ext cx="438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C170D5-C013-44FD-9638-3B6F86FB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114800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3404A"/>
                </a:solidFill>
              </a:defRPr>
            </a:pPr>
            <a:r>
              <a:rPr sz="1200" b="1">
                <a:solidFill>
                  <a:srgbClr val="23404A"/>
                </a:solidFill>
              </a:rPr>
              <a:t>入力取得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82E71F-3BFD-4918-A0F1-3C830110F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47675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126"/>
                </a:solidFill>
              </a:defRPr>
            </a:pPr>
            <a:r>
              <a:rPr sz="1125" b="0">
                <a:solidFill>
                  <a:srgbClr val="182126"/>
                </a:solidFill>
              </a:rPr>
              <a:t>カラー画像、深度画像、カメラ行列、クリック座標を取得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19052D-755B-4142-AAE4-780F3FCD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114800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6B15E"/>
          </a:solidFill>
          <a:ln xmlns:a="http://schemas.openxmlformats.org/drawingml/2006/main" w="0">
            <a:solidFill>
              <a:srgbClr val="D6B15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9AEC55-FACD-4B26-8D54-C60FEFC4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314700"/>
            <a:ext cx="18669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4C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2B0476-43D8-4BE0-B6C0-38EC122E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5052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8F75"/>
          </a:solidFill>
          <a:ln xmlns:a="http://schemas.openxmlformats.org/drawingml/2006/main" w="0">
            <a:solidFill>
              <a:srgbClr val="4B8F7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A495E3-8473-4A58-97BE-2D9B2181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581400"/>
            <a:ext cx="438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804566-5F15-4520-BCC8-5F40FF81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14800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3404A"/>
                </a:solidFill>
              </a:defRPr>
            </a:pPr>
            <a:r>
              <a:rPr sz="1200" b="1">
                <a:solidFill>
                  <a:srgbClr val="23404A"/>
                </a:solidFill>
              </a:rPr>
              <a:t>編集指示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339FD3-0A9E-48E6-AF7B-67E37B63C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7675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126"/>
                </a:solidFill>
              </a:defRPr>
            </a:pPr>
            <a:r>
              <a:rPr sz="1125" b="0">
                <a:solidFill>
                  <a:srgbClr val="182126"/>
                </a:solidFill>
              </a:rPr>
              <a:t>自然言語プロンプトと必要なマスク範囲を指定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716A7D-D3AD-40F9-819D-3F96FD29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114800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6B15E"/>
          </a:solidFill>
          <a:ln xmlns:a="http://schemas.openxmlformats.org/drawingml/2006/main" w="0">
            <a:solidFill>
              <a:srgbClr val="D6B15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8640C5-3E32-4594-BC95-263BD63D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314700"/>
            <a:ext cx="18669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4C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C92113-F97C-4B0D-B0CD-86443BDB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5052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8F75"/>
          </a:solidFill>
          <a:ln xmlns:a="http://schemas.openxmlformats.org/drawingml/2006/main" w="0">
            <a:solidFill>
              <a:srgbClr val="4B8F7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A3F4A09-970B-4CF7-9919-08ABF1667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581400"/>
            <a:ext cx="438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C222E1-71B2-427B-8863-A2AFCB66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114800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3404A"/>
                </a:solidFill>
              </a:defRPr>
            </a:pPr>
            <a:r>
              <a:rPr sz="1200" b="1">
                <a:solidFill>
                  <a:srgbClr val="23404A"/>
                </a:solidFill>
              </a:rPr>
              <a:t>比較・保存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1D14AE-6798-40DF-A311-C9668E16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47675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126"/>
                </a:solidFill>
              </a:defRPr>
            </a:pPr>
            <a:r>
              <a:rPr sz="1125" b="0">
                <a:solidFill>
                  <a:srgbClr val="182126"/>
                </a:solidFill>
              </a:rPr>
              <a:t>ローカルAIで生成し、Before / After を比較して保存</a:t>
            </a:r>
          </a:p>
        </p:txBody>
      </p:sp>
    </p:spTree>
    <p:extLst>
      <p:ext uri="{BB962C8B-B14F-4D97-AF65-F5344CB8AC3E}">
        <p14:creationId xmlns:p14="http://schemas.microsoft.com/office/powerpoint/2010/main" val="14869232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442A6E0-A331-4746-83A8-FA37612A97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7B1407-AF1D-477F-A0E4-33B0C94EB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04A"/>
          </a:solidFill>
          <a:ln xmlns:a="http://schemas.openxmlformats.org/drawingml/2006/main" w="0">
            <a:solidFill>
              <a:srgbClr val="2340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F240F4-0487-4C2F-856B-1F60CA85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B15E"/>
          </a:solidFill>
          <a:ln xmlns:a="http://schemas.openxmlformats.org/drawingml/2006/main" w="0">
            <a:solidFill>
              <a:srgbClr val="D6B15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6950A9-0066-48A8-A118-EAA67AFC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76200" cy="516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F75"/>
          </a:solidFill>
          <a:ln xmlns:a="http://schemas.openxmlformats.org/drawingml/2006/main" w="0">
            <a:solidFill>
              <a:srgbClr val="4B8F7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F52D19-3CFC-4344-91E1-82C3801A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FUNCTIONS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1642B7-3A37-4137-966C-0EC7C864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8575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05 / 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A29CC1-D3C6-4B51-948E-E450ED11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00150"/>
            <a:ext cx="7239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126"/>
                </a:solidFill>
              </a:defRPr>
            </a:pPr>
            <a:r>
              <a:rPr sz="2250" b="1">
                <a:solidFill>
                  <a:srgbClr val="182126"/>
                </a:solidFill>
              </a:rPr>
              <a:t>機能要件とMVP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A08A84-76D9-4B2D-A8B1-A4B7EE15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4535C"/>
                </a:solidFill>
              </a:defRPr>
            </a:pPr>
            <a:r>
              <a:rPr sz="1275" b="0">
                <a:solidFill>
                  <a:srgbClr val="44535C"/>
                </a:solidFill>
              </a:rPr>
              <a:t>ビューア、編集指定、生成、比較表示の4ブロックを中核とする。 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FD5F1C-E2B0-4D4F-934E-D1372759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438900"/>
            <a:ext cx="2343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C7A80"/>
                </a:solidFill>
              </a:defRPr>
            </a:pPr>
            <a:r>
              <a:rPr sz="675" b="0">
                <a:solidFill>
                  <a:srgbClr val="6C7A80"/>
                </a:solidFill>
              </a:rPr>
              <a:t>Source: webgl/要件定義書.md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00ECD0-712A-425B-BDB7-1EBCF289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333375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4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376F4F-E03C-40C2-8677-2B24AE83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F75"/>
          </a:solidFill>
          <a:ln xmlns:a="http://schemas.openxmlformats.org/drawingml/2006/main" w="0">
            <a:solidFill>
              <a:srgbClr val="4B8F7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4AE802-2B41-4D91-80FE-EB0D3AAD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90850"/>
            <a:ext cx="2914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404A"/>
                </a:solidFill>
              </a:defRPr>
            </a:pPr>
            <a:r>
              <a:rPr sz="1125" b="1">
                <a:solidFill>
                  <a:srgbClr val="23404A"/>
                </a:solidFill>
              </a:rPr>
              <a:t>主要機能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2F5E5C-7558-4050-8096-2094F343A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52800"/>
            <a:ext cx="291465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6"/>
                </a:solidFill>
              </a:defRPr>
            </a:pPr>
            <a:r>
              <a:rPr sz="1275" b="0">
                <a:solidFill>
                  <a:srgbClr val="182126"/>
                </a:solidFill>
              </a:rPr>
              <a:t>• 物件情報登録と部屋単位管理</a:t>
            </a:r>
          </a:p>
          <a:p xmlns:a="http://schemas.openxmlformats.org/drawingml/2006/main">
            <a:pPr algn="l">
              <a:defRPr sz="1275" b="0">
                <a:solidFill>
                  <a:srgbClr val="182126"/>
                </a:solidFill>
              </a:defRPr>
            </a:pPr>
            <a:r>
              <a:rPr sz="1275" b="0">
                <a:solidFill>
                  <a:srgbClr val="182126"/>
                </a:solidFill>
              </a:rPr>
              <a:t>• Three.js による `.glb` 表示</a:t>
            </a:r>
          </a:p>
          <a:p xmlns:a="http://schemas.openxmlformats.org/drawingml/2006/main">
            <a:pPr algn="l">
              <a:defRPr sz="1275" b="0">
                <a:solidFill>
                  <a:srgbClr val="182126"/>
                </a:solidFill>
              </a:defRPr>
            </a:pPr>
            <a:r>
              <a:rPr sz="1275" b="0">
                <a:solidFill>
                  <a:srgbClr val="182126"/>
                </a:solidFill>
              </a:rPr>
              <a:t>• 視点キャプチャ、深度取得、camera JSON 保存</a:t>
            </a:r>
          </a:p>
          <a:p xmlns:a="http://schemas.openxmlformats.org/drawingml/2006/main">
            <a:pPr algn="l">
              <a:defRPr sz="1275" b="0">
                <a:solidFill>
                  <a:srgbClr val="182126"/>
                </a:solidFill>
              </a:defRPr>
            </a:pPr>
            <a:r>
              <a:rPr sz="1275" b="0">
                <a:solidFill>
                  <a:srgbClr val="182126"/>
                </a:solidFill>
              </a:rPr>
              <a:t>• world position 取得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396A4C-DED9-4615-AA0F-6E873540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00350"/>
            <a:ext cx="333375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4C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A688EB-6C07-4B28-8D51-4450C17AE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00350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B15E"/>
          </a:solidFill>
          <a:ln xmlns:a="http://schemas.openxmlformats.org/drawingml/2006/main" w="0">
            <a:solidFill>
              <a:srgbClr val="D6B15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0EE75A-45B7-4E20-B309-C0081DBC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90850"/>
            <a:ext cx="2914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126"/>
                </a:solidFill>
              </a:defRPr>
            </a:pPr>
            <a:r>
              <a:rPr sz="1125" b="1">
                <a:solidFill>
                  <a:srgbClr val="182126"/>
                </a:solidFill>
              </a:rPr>
              <a:t>編集と生成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7AA2CB-63E7-4F6D-A607-36F6FD08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52800"/>
            <a:ext cx="291465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6"/>
                </a:solidFill>
              </a:defRPr>
            </a:pPr>
            <a:r>
              <a:rPr sz="1275" b="0">
                <a:solidFill>
                  <a:srgbClr val="182126"/>
                </a:solidFill>
              </a:rPr>
              <a:t>• 自然言語プロンプト入力</a:t>
            </a:r>
          </a:p>
          <a:p xmlns:a="http://schemas.openxmlformats.org/drawingml/2006/main">
            <a:pPr algn="l">
              <a:defRPr sz="1275" b="0">
                <a:solidFill>
                  <a:srgbClr val="182126"/>
                </a:solidFill>
              </a:defRPr>
            </a:pPr>
            <a:r>
              <a:rPr sz="1275" b="0">
                <a:solidFill>
                  <a:srgbClr val="182126"/>
                </a:solidFill>
              </a:rPr>
              <a:t>• 編集対象領域の指定</a:t>
            </a:r>
          </a:p>
          <a:p xmlns:a="http://schemas.openxmlformats.org/drawingml/2006/main">
            <a:pPr algn="l">
              <a:defRPr sz="1275" b="0">
                <a:solidFill>
                  <a:srgbClr val="182126"/>
                </a:solidFill>
              </a:defRPr>
            </a:pPr>
            <a:r>
              <a:rPr sz="1275" b="0">
                <a:solidFill>
                  <a:srgbClr val="182126"/>
                </a:solidFill>
              </a:rPr>
              <a:t>• color / depth / mask / prompt を入力に利用</a:t>
            </a:r>
          </a:p>
          <a:p xmlns:a="http://schemas.openxmlformats.org/drawingml/2006/main">
            <a:pPr algn="l">
              <a:defRPr sz="1275" b="0">
                <a:solidFill>
                  <a:srgbClr val="182126"/>
                </a:solidFill>
              </a:defRPr>
            </a:pPr>
            <a:r>
              <a:rPr sz="1275" b="0">
                <a:solidFill>
                  <a:srgbClr val="182126"/>
                </a:solidFill>
              </a:rPr>
              <a:t>• ローカル環境で画像生成を実行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720E60-8053-4936-BDA4-ED7824B3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00350"/>
            <a:ext cx="327660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4C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9590A0-6889-4D22-9167-9E62E1AC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00350"/>
            <a:ext cx="3276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A63"/>
          </a:solidFill>
          <a:ln xmlns:a="http://schemas.openxmlformats.org/drawingml/2006/main" w="0">
            <a:solidFill>
              <a:srgbClr val="D98A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3DEECF-879B-4948-93C0-1BBCC0B8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908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404A"/>
                </a:solidFill>
              </a:defRPr>
            </a:pPr>
            <a:r>
              <a:rPr sz="1125" b="1">
                <a:solidFill>
                  <a:srgbClr val="23404A"/>
                </a:solidFill>
              </a:rPr>
              <a:t>結果表示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6628F5-9611-4E6F-A1D3-A42E2B72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52800"/>
            <a:ext cx="28575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6"/>
                </a:solidFill>
              </a:defRPr>
            </a:pPr>
            <a:r>
              <a:rPr sz="1275" b="0">
                <a:solidFill>
                  <a:srgbClr val="182126"/>
                </a:solidFill>
              </a:rPr>
              <a:t>• Before / After 比較表示</a:t>
            </a:r>
          </a:p>
          <a:p xmlns:a="http://schemas.openxmlformats.org/drawingml/2006/main">
            <a:pPr algn="l">
              <a:defRPr sz="1275" b="0">
                <a:solidFill>
                  <a:srgbClr val="182126"/>
                </a:solidFill>
              </a:defRPr>
            </a:pPr>
            <a:r>
              <a:rPr sz="1275" b="0">
                <a:solidFill>
                  <a:srgbClr val="182126"/>
                </a:solidFill>
              </a:rPr>
              <a:t>• 同一視点で複数案を比較</a:t>
            </a:r>
          </a:p>
          <a:p xmlns:a="http://schemas.openxmlformats.org/drawingml/2006/main">
            <a:pPr algn="l">
              <a:defRPr sz="1275" b="0">
                <a:solidFill>
                  <a:srgbClr val="182126"/>
                </a:solidFill>
              </a:defRPr>
            </a:pPr>
            <a:r>
              <a:rPr sz="1275" b="0">
                <a:solidFill>
                  <a:srgbClr val="182126"/>
                </a:solidFill>
              </a:rPr>
              <a:t>• 生成条件の保存</a:t>
            </a:r>
          </a:p>
          <a:p xmlns:a="http://schemas.openxmlformats.org/drawingml/2006/main">
            <a:pPr algn="l">
              <a:defRPr sz="1275" b="0">
                <a:solidFill>
                  <a:srgbClr val="182126"/>
                </a:solidFill>
              </a:defRPr>
            </a:pPr>
            <a:r>
              <a:rPr sz="1275" b="0">
                <a:solidFill>
                  <a:srgbClr val="182126"/>
                </a:solidFill>
              </a:rPr>
              <a:t>• AI生成画像であることを明示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117F60-296B-4A1C-9898-0098C4ED6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0"/>
            <a:ext cx="103632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8F0EA"/>
          </a:solidFill>
          <a:ln xmlns:a="http://schemas.openxmlformats.org/drawingml/2006/main" w="11430">
            <a:solidFill>
              <a:srgbClr val="C9D4C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9390F2-7EE1-47F0-AB83-3F33593D0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886450"/>
            <a:ext cx="9829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3404A"/>
                </a:solidFill>
              </a:defRPr>
            </a:pPr>
            <a:r>
              <a:rPr sz="1125" b="1">
                <a:solidFill>
                  <a:srgbClr val="23404A"/>
                </a:solidFill>
              </a:rPr>
              <a:t>MVP: `.glb` 表示 / 視点キャプチャ / 深度画像出力 / カメラJSON保存 / マスク指定 / 単一視点生成 / Before / After 比較</a:t>
            </a:r>
          </a:p>
        </p:txBody>
      </p:sp>
    </p:spTree>
    <p:extLst>
      <p:ext uri="{BB962C8B-B14F-4D97-AF65-F5344CB8AC3E}">
        <p14:creationId xmlns:p14="http://schemas.microsoft.com/office/powerpoint/2010/main" val="6698665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442A6E0-A331-4746-83A8-FA37612A97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771CBE-D92C-4EC6-B9FB-B005D5530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04A"/>
          </a:solidFill>
          <a:ln xmlns:a="http://schemas.openxmlformats.org/drawingml/2006/main" w="0">
            <a:solidFill>
              <a:srgbClr val="2340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4C3414-EA0B-4918-B4AB-9A0DC3B6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B15E"/>
          </a:solidFill>
          <a:ln xmlns:a="http://schemas.openxmlformats.org/drawingml/2006/main" w="0">
            <a:solidFill>
              <a:srgbClr val="D6B15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3AF42C-5759-42D1-8484-2CA4D663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76200" cy="516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F75"/>
          </a:solidFill>
          <a:ln xmlns:a="http://schemas.openxmlformats.org/drawingml/2006/main" w="0">
            <a:solidFill>
              <a:srgbClr val="4B8F7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9FFA73-F699-49A0-B210-AE0DE931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GOVERNANCE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F3D419-7D40-4B4F-BC41-7D6AD5DC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8575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06 / 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E277F0-EB58-4E3C-8C6C-8CFEC2BC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00150"/>
            <a:ext cx="7239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126"/>
                </a:solidFill>
              </a:defRPr>
            </a:pPr>
            <a:r>
              <a:rPr sz="2250" b="1">
                <a:solidFill>
                  <a:srgbClr val="182126"/>
                </a:solidFill>
              </a:rPr>
              <a:t>非機能・データ・制約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2C3C8B-DAAC-421C-8311-DE57C14D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4535C"/>
                </a:solidFill>
              </a:defRPr>
            </a:pPr>
            <a:r>
              <a:rPr sz="1275" b="0">
                <a:solidFill>
                  <a:srgbClr val="44535C"/>
                </a:solidFill>
              </a:rPr>
              <a:t>品質よりも“比較に耐える再現性”を優先し、保存データで追跡可能にする。 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32890A-FF15-438A-90C7-BBEC54230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438900"/>
            <a:ext cx="2343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C7A80"/>
                </a:solidFill>
              </a:defRPr>
            </a:pPr>
            <a:r>
              <a:rPr sz="675" b="0">
                <a:solidFill>
                  <a:srgbClr val="6C7A80"/>
                </a:solidFill>
              </a:rPr>
              <a:t>Source: webgl/要件定義書.md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496B64-E041-4792-AC31-2DF2D1B2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33528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4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002C3C-E29A-4305-934A-5142E8FF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3352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F75"/>
          </a:solidFill>
          <a:ln xmlns:a="http://schemas.openxmlformats.org/drawingml/2006/main" w="0">
            <a:solidFill>
              <a:srgbClr val="4B8F7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8067ED-6B86-4613-A26A-725AFD53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90850"/>
            <a:ext cx="2933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404A"/>
                </a:solidFill>
              </a:defRPr>
            </a:pPr>
            <a:r>
              <a:rPr sz="1125" b="1">
                <a:solidFill>
                  <a:srgbClr val="23404A"/>
                </a:solidFill>
              </a:rPr>
              <a:t>非機能要件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D6B39B-B70F-4D72-92D7-29185716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52800"/>
            <a:ext cx="2933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6"/>
                </a:solidFill>
              </a:defRPr>
            </a:pPr>
            <a:r>
              <a:rPr sz="1275" b="0">
                <a:solidFill>
                  <a:srgbClr val="182126"/>
                </a:solidFill>
              </a:rPr>
              <a:t>• 主要処理はローカルPCで実行可能</a:t>
            </a:r>
          </a:p>
          <a:p xmlns:a="http://schemas.openxmlformats.org/drawingml/2006/main">
            <a:pPr algn="l">
              <a:defRPr sz="1275" b="0">
                <a:solidFill>
                  <a:srgbClr val="182126"/>
                </a:solidFill>
              </a:defRPr>
            </a:pPr>
            <a:r>
              <a:rPr sz="1275" b="0">
                <a:solidFill>
                  <a:srgbClr val="182126"/>
                </a:solidFill>
              </a:rPr>
              <a:t>• 実用上ストレスのないビュー操作</a:t>
            </a:r>
          </a:p>
          <a:p xmlns:a="http://schemas.openxmlformats.org/drawingml/2006/main">
            <a:pPr algn="l">
              <a:defRPr sz="1275" b="0">
                <a:solidFill>
                  <a:srgbClr val="182126"/>
                </a:solidFill>
              </a:defRPr>
            </a:pPr>
            <a:r>
              <a:rPr sz="1275" b="0">
                <a:solidFill>
                  <a:srgbClr val="182126"/>
                </a:solidFill>
              </a:rPr>
              <a:t>• モデル・seed・prompt・視点情報を保存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F9B9B3-0948-42EC-95DE-11E96FB3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00350"/>
            <a:ext cx="33528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4C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A3B657-F12B-4604-81DF-73F6C7EB1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00350"/>
            <a:ext cx="3352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B15E"/>
          </a:solidFill>
          <a:ln xmlns:a="http://schemas.openxmlformats.org/drawingml/2006/main" w="0">
            <a:solidFill>
              <a:srgbClr val="D6B15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54471B-B658-4E52-A886-04DE1954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90850"/>
            <a:ext cx="2933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126"/>
                </a:solidFill>
              </a:defRPr>
            </a:pPr>
            <a:r>
              <a:rPr sz="1125" b="1">
                <a:solidFill>
                  <a:srgbClr val="182126"/>
                </a:solidFill>
              </a:rPr>
              <a:t>最低限の保存項目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D832EF-58C5-4DEA-BD38-07BCFF48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352800"/>
            <a:ext cx="2933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6"/>
                </a:solidFill>
              </a:defRPr>
            </a:pPr>
            <a:r>
              <a:rPr sz="1275" b="0">
                <a:solidFill>
                  <a:srgbClr val="182126"/>
                </a:solidFill>
              </a:rPr>
              <a:t>識別: `property_id` / `room_id` / `view_id`</a:t>
            </a:r>
          </a:p>
          <a:p xmlns:a="http://schemas.openxmlformats.org/drawingml/2006/main">
            <a:pPr algn="l">
              <a:defRPr sz="1275" b="0">
                <a:solidFill>
                  <a:srgbClr val="182126"/>
                </a:solidFill>
              </a:defRPr>
            </a:pPr>
            <a:r>
              <a:rPr sz="1275" b="0">
                <a:solidFill>
                  <a:srgbClr val="182126"/>
                </a:solidFill>
              </a:rPr>
              <a:t>入力: color / depth / mask / camera</a:t>
            </a:r>
          </a:p>
          <a:p xmlns:a="http://schemas.openxmlformats.org/drawingml/2006/main">
            <a:pPr algn="l">
              <a:defRPr sz="1275" b="0">
                <a:solidFill>
                  <a:srgbClr val="182126"/>
                </a:solidFill>
              </a:defRPr>
            </a:pPr>
            <a:r>
              <a:rPr sz="1275" b="0">
                <a:solidFill>
                  <a:srgbClr val="182126"/>
                </a:solidFill>
              </a:rPr>
              <a:t>生成条件: prompt / style / model / seed</a:t>
            </a:r>
          </a:p>
          <a:p xmlns:a="http://schemas.openxmlformats.org/drawingml/2006/main">
            <a:pPr algn="l">
              <a:defRPr sz="1275" b="0">
                <a:solidFill>
                  <a:srgbClr val="182126"/>
                </a:solidFill>
              </a:defRPr>
            </a:pPr>
            <a:r>
              <a:rPr sz="1275" b="0">
                <a:solidFill>
                  <a:srgbClr val="182126"/>
                </a:solidFill>
              </a:rPr>
              <a:t>結果: output_image_path / created_at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E6DE3C-B0B4-485F-93EE-D4F1C8F48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00350"/>
            <a:ext cx="32004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4C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9D6433-AE7E-4D88-97B5-6AAF74D7B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00350"/>
            <a:ext cx="3200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A63"/>
          </a:solidFill>
          <a:ln xmlns:a="http://schemas.openxmlformats.org/drawingml/2006/main" w="0">
            <a:solidFill>
              <a:srgbClr val="D98A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63332E-95EC-4C27-BA5F-061547BC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90850"/>
            <a:ext cx="2781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404A"/>
                </a:solidFill>
              </a:defRPr>
            </a:pPr>
            <a:r>
              <a:rPr sz="1125" b="1">
                <a:solidFill>
                  <a:srgbClr val="23404A"/>
                </a:solidFill>
              </a:rPr>
              <a:t>制約事項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033A3F-237F-4D0F-9EB6-3D7C1CEA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52800"/>
            <a:ext cx="2781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6"/>
                </a:solidFill>
              </a:defRPr>
            </a:pPr>
            <a:r>
              <a:rPr sz="1275" b="0">
                <a:solidFill>
                  <a:srgbClr val="182126"/>
                </a:solidFill>
              </a:rPr>
              <a:t>• 建築的妥当性は保証しない</a:t>
            </a:r>
          </a:p>
          <a:p xmlns:a="http://schemas.openxmlformats.org/drawingml/2006/main">
            <a:pPr algn="l">
              <a:defRPr sz="1275" b="0">
                <a:solidFill>
                  <a:srgbClr val="182126"/>
                </a:solidFill>
              </a:defRPr>
            </a:pPr>
            <a:r>
              <a:rPr sz="1275" b="0">
                <a:solidFill>
                  <a:srgbClr val="182126"/>
                </a:solidFill>
              </a:rPr>
              <a:t>• 構造変更表現は初期対象外</a:t>
            </a:r>
          </a:p>
          <a:p xmlns:a="http://schemas.openxmlformats.org/drawingml/2006/main">
            <a:pPr algn="l">
              <a:defRPr sz="1275" b="0">
                <a:solidFill>
                  <a:srgbClr val="182126"/>
                </a:solidFill>
              </a:defRPr>
            </a:pPr>
            <a:r>
              <a:rPr sz="1275" b="0">
                <a:solidFill>
                  <a:srgbClr val="182126"/>
                </a:solidFill>
              </a:rPr>
              <a:t>• 品質と速度はモデル精度・GPU性能依存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A280AD-ACF0-4790-8693-D93783CF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4953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4C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BCB61C-FDCE-4A18-A25F-3DA5DFDB1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4953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04A"/>
          </a:solidFill>
          <a:ln xmlns:a="http://schemas.openxmlformats.org/drawingml/2006/main" w="0">
            <a:solidFill>
              <a:srgbClr val="2340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FDC270-AA1D-40B3-BC5D-C69B7742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24400"/>
            <a:ext cx="4533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404A"/>
                </a:solidFill>
              </a:defRPr>
            </a:pPr>
            <a:r>
              <a:rPr sz="1125" b="1">
                <a:solidFill>
                  <a:srgbClr val="23404A"/>
                </a:solidFill>
              </a:rPr>
              <a:t>リスク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C6FFA6-E316-4A5B-A822-71B2E1E1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86350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6"/>
                </a:solidFill>
              </a:defRPr>
            </a:pPr>
            <a:r>
              <a:rPr sz="1275" b="0">
                <a:solidFill>
                  <a:srgbClr val="182126"/>
                </a:solidFill>
              </a:rPr>
              <a:t>• 過度な美化による誤認</a:t>
            </a:r>
          </a:p>
          <a:p xmlns:a="http://schemas.openxmlformats.org/drawingml/2006/main">
            <a:pPr algn="l">
              <a:defRPr sz="1275" b="0">
                <a:solidFill>
                  <a:srgbClr val="182126"/>
                </a:solidFill>
              </a:defRPr>
            </a:pPr>
            <a:r>
              <a:rPr sz="1275" b="0">
                <a:solidFill>
                  <a:srgbClr val="182126"/>
                </a:solidFill>
              </a:rPr>
              <a:t>• 深度やマスクの不正確さによる破綻</a:t>
            </a:r>
          </a:p>
          <a:p xmlns:a="http://schemas.openxmlformats.org/drawingml/2006/main">
            <a:pPr algn="l">
              <a:defRPr sz="1275" b="0">
                <a:solidFill>
                  <a:srgbClr val="182126"/>
                </a:solidFill>
              </a:defRPr>
            </a:pPr>
            <a:r>
              <a:rPr sz="1275" b="0">
                <a:solidFill>
                  <a:srgbClr val="182126"/>
                </a:solidFill>
              </a:rPr>
              <a:t>• 視点変更時の整合性喪失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EAA6E2-44A7-4CA0-B0C2-FF0283B5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33900"/>
            <a:ext cx="51816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4C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320D73-D39F-477B-B59C-18F5C4A9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33900"/>
            <a:ext cx="5181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F75"/>
          </a:solidFill>
          <a:ln xmlns:a="http://schemas.openxmlformats.org/drawingml/2006/main" w="0">
            <a:solidFill>
              <a:srgbClr val="4B8F7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7D9D15-B6CE-4A2A-AD4E-F19E49AA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2440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404A"/>
                </a:solidFill>
              </a:defRPr>
            </a:pPr>
            <a:r>
              <a:rPr sz="1125" b="1">
                <a:solidFill>
                  <a:srgbClr val="23404A"/>
                </a:solidFill>
              </a:rPr>
              <a:t>信頼性の担保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3F12A1-1EAB-4AD2-ADB9-D340C05BD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086350"/>
            <a:ext cx="476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6"/>
                </a:solidFill>
              </a:defRPr>
            </a:pPr>
            <a:r>
              <a:rPr sz="1275" b="0">
                <a:solidFill>
                  <a:srgbClr val="182126"/>
                </a:solidFill>
              </a:rPr>
              <a:t>AI生成であること、実施工を保証しないこと、初期リリースでは単一視点に限定することを画面上で明示する。</a:t>
            </a:r>
          </a:p>
        </p:txBody>
      </p:sp>
    </p:spTree>
    <p:extLst>
      <p:ext uri="{BB962C8B-B14F-4D97-AF65-F5344CB8AC3E}">
        <p14:creationId xmlns:p14="http://schemas.microsoft.com/office/powerpoint/2010/main" val="7998084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442A6E0-A331-4746-83A8-FA37612A97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650A20-19F9-4580-9424-8A383E1A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04A"/>
          </a:solidFill>
          <a:ln xmlns:a="http://schemas.openxmlformats.org/drawingml/2006/main" w="0">
            <a:solidFill>
              <a:srgbClr val="2340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B5CB87-9865-4FA8-9ACD-C6877147A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B15E"/>
          </a:solidFill>
          <a:ln xmlns:a="http://schemas.openxmlformats.org/drawingml/2006/main" w="0">
            <a:solidFill>
              <a:srgbClr val="D6B15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DE933A-1A55-4D16-A273-1BF533FB3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76200" cy="516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F75"/>
          </a:solidFill>
          <a:ln xmlns:a="http://schemas.openxmlformats.org/drawingml/2006/main" w="0">
            <a:solidFill>
              <a:srgbClr val="4B8F7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F62436-E9E3-4913-8D16-B9C7A041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ROADMAP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F050A9-58F8-42B6-B449-07758370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8575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07 / 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CA2F44-D244-4AEA-AA24-EB7D940E7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00150"/>
            <a:ext cx="7239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126"/>
                </a:solidFill>
              </a:defRPr>
            </a:pPr>
            <a:r>
              <a:rPr sz="2250" b="1">
                <a:solidFill>
                  <a:srgbClr val="182126"/>
                </a:solidFill>
              </a:rPr>
              <a:t>構成案・拡張候補・成功指標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1C627B-2D7E-4FD6-BE75-8DDFEA6F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4535C"/>
                </a:solidFill>
              </a:defRPr>
            </a:pPr>
            <a:r>
              <a:rPr sz="1275" b="0">
                <a:solidFill>
                  <a:srgbClr val="44535C"/>
                </a:solidFill>
              </a:rPr>
              <a:t>MVP を土台に、再投影や複数視点整合へ段階的に広げる。 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2BE1F2-ACAF-4240-B8CA-6082BE9F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438900"/>
            <a:ext cx="2343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C7A80"/>
                </a:solidFill>
              </a:defRPr>
            </a:pPr>
            <a:r>
              <a:rPr sz="675" b="0">
                <a:solidFill>
                  <a:srgbClr val="6C7A80"/>
                </a:solidFill>
              </a:rPr>
              <a:t>Source: webgl/要件定義書.md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C170DB-A795-4E26-A660-AEDCC528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327660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4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43AB41-DA1E-42BF-99E8-C9ACEE02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3276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F75"/>
          </a:solidFill>
          <a:ln xmlns:a="http://schemas.openxmlformats.org/drawingml/2006/main" w="0">
            <a:solidFill>
              <a:srgbClr val="4B8F7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1735CC-9F95-474B-B4A7-ECD85CBE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908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404A"/>
                </a:solidFill>
              </a:defRPr>
            </a:pPr>
            <a:r>
              <a:rPr sz="1125" b="1">
                <a:solidFill>
                  <a:srgbClr val="23404A"/>
                </a:solidFill>
              </a:rPr>
              <a:t>システム構成案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EA7FF2-5B8C-4D33-9A05-2BED4991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52800"/>
            <a:ext cx="28575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6"/>
                </a:solidFill>
              </a:defRPr>
            </a:pPr>
            <a:r>
              <a:rPr sz="1275" b="0">
                <a:solidFill>
                  <a:srgbClr val="182126"/>
                </a:solidFill>
              </a:rPr>
              <a:t>• フロントエンド: Three.js ビューア</a:t>
            </a:r>
          </a:p>
          <a:p xmlns:a="http://schemas.openxmlformats.org/drawingml/2006/main">
            <a:pPr algn="l">
              <a:defRPr sz="1275" b="0">
                <a:solidFill>
                  <a:srgbClr val="182126"/>
                </a:solidFill>
              </a:defRPr>
            </a:pPr>
            <a:r>
              <a:rPr sz="1275" b="0">
                <a:solidFill>
                  <a:srgbClr val="182126"/>
                </a:solidFill>
              </a:rPr>
              <a:t>• 生成基盤: ComfyUI を第一候補</a:t>
            </a:r>
          </a:p>
          <a:p xmlns:a="http://schemas.openxmlformats.org/drawingml/2006/main">
            <a:pPr algn="l">
              <a:defRPr sz="1275" b="0">
                <a:solidFill>
                  <a:srgbClr val="182126"/>
                </a:solidFill>
              </a:defRPr>
            </a:pPr>
            <a:r>
              <a:rPr sz="1275" b="0">
                <a:solidFill>
                  <a:srgbClr val="182126"/>
                </a:solidFill>
              </a:rPr>
              <a:t>• 保存: 画像 / JSON / 生成条件を物件単位で管理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CDAD0B-C7D3-4D6A-BD36-577ABC5A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00350"/>
            <a:ext cx="327660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4C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15515D-A396-44A2-A1DC-DA3E2068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00350"/>
            <a:ext cx="3276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B15E"/>
          </a:solidFill>
          <a:ln xmlns:a="http://schemas.openxmlformats.org/drawingml/2006/main" w="0">
            <a:solidFill>
              <a:srgbClr val="D6B15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B5FA86-A84E-4797-800B-FDF75C36F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908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126"/>
                </a:solidFill>
              </a:defRPr>
            </a:pPr>
            <a:r>
              <a:rPr sz="1125" b="1">
                <a:solidFill>
                  <a:srgbClr val="182126"/>
                </a:solidFill>
              </a:rPr>
              <a:t>将来拡張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19B685-0B9B-4B50-99F9-6659A8F3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52800"/>
            <a:ext cx="28575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6"/>
                </a:solidFill>
              </a:defRPr>
            </a:pPr>
            <a:r>
              <a:rPr sz="1275" b="0">
                <a:solidFill>
                  <a:srgbClr val="182126"/>
                </a:solidFill>
              </a:rPr>
              <a:t>• 面認識</a:t>
            </a:r>
          </a:p>
          <a:p xmlns:a="http://schemas.openxmlformats.org/drawingml/2006/main">
            <a:pPr algn="l">
              <a:defRPr sz="1275" b="0">
                <a:solidFill>
                  <a:srgbClr val="182126"/>
                </a:solidFill>
              </a:defRPr>
            </a:pPr>
            <a:r>
              <a:rPr sz="1275" b="0">
                <a:solidFill>
                  <a:srgbClr val="182126"/>
                </a:solidFill>
              </a:rPr>
              <a:t>• 家具レイアウト提案</a:t>
            </a:r>
          </a:p>
          <a:p xmlns:a="http://schemas.openxmlformats.org/drawingml/2006/main">
            <a:pPr algn="l">
              <a:defRPr sz="1275" b="0">
                <a:solidFill>
                  <a:srgbClr val="182126"/>
                </a:solidFill>
              </a:defRPr>
            </a:pPr>
            <a:r>
              <a:rPr sz="1275" b="0">
                <a:solidFill>
                  <a:srgbClr val="182126"/>
                </a:solidFill>
              </a:rPr>
              <a:t>• 複数視点の整合生成</a:t>
            </a:r>
          </a:p>
          <a:p xmlns:a="http://schemas.openxmlformats.org/drawingml/2006/main">
            <a:pPr algn="l">
              <a:defRPr sz="1275" b="0">
                <a:solidFill>
                  <a:srgbClr val="182126"/>
                </a:solidFill>
              </a:defRPr>
            </a:pPr>
            <a:r>
              <a:rPr sz="1275" b="0">
                <a:solidFill>
                  <a:srgbClr val="182126"/>
                </a:solidFill>
              </a:rPr>
              <a:t>• 再投影による疑似3D表示</a:t>
            </a:r>
          </a:p>
          <a:p xmlns:a="http://schemas.openxmlformats.org/drawingml/2006/main">
            <a:pPr algn="l">
              <a:defRPr sz="1275" b="0">
                <a:solidFill>
                  <a:srgbClr val="182126"/>
                </a:solidFill>
              </a:defRPr>
            </a:pPr>
            <a:r>
              <a:rPr sz="1275" b="0">
                <a:solidFill>
                  <a:srgbClr val="182126"/>
                </a:solidFill>
              </a:rPr>
              <a:t>• 管理画面の整備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FDB2CA-F869-4BB4-81F9-A7983857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00350"/>
            <a:ext cx="327660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4C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6EA675-8A74-4A54-9631-1DD9C107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00350"/>
            <a:ext cx="3276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A63"/>
          </a:solidFill>
          <a:ln xmlns:a="http://schemas.openxmlformats.org/drawingml/2006/main" w="0">
            <a:solidFill>
              <a:srgbClr val="D98A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2C417C-13B8-4B79-BFFD-5F8EC5F3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908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404A"/>
                </a:solidFill>
              </a:defRPr>
            </a:pPr>
            <a:r>
              <a:rPr sz="1125" b="1">
                <a:solidFill>
                  <a:srgbClr val="23404A"/>
                </a:solidFill>
              </a:rPr>
              <a:t>成功指標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CE0FD8-3FCE-42B9-B3F1-0DEF9793F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52800"/>
            <a:ext cx="28575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6"/>
                </a:solidFill>
              </a:defRPr>
            </a:pPr>
            <a:r>
              <a:rPr sz="1275" b="0">
                <a:solidFill>
                  <a:srgbClr val="182126"/>
                </a:solidFill>
              </a:rPr>
              <a:t>• 物件イメージを持ちやすくなった回答率</a:t>
            </a:r>
          </a:p>
          <a:p xmlns:a="http://schemas.openxmlformats.org/drawingml/2006/main">
            <a:pPr algn="l">
              <a:defRPr sz="1275" b="0">
                <a:solidFill>
                  <a:srgbClr val="182126"/>
                </a:solidFill>
              </a:defRPr>
            </a:pPr>
            <a:r>
              <a:rPr sz="1275" b="0">
                <a:solidFill>
                  <a:srgbClr val="182126"/>
                </a:solidFill>
              </a:rPr>
              <a:t>• 問い合わせ率・内見予約率の改善</a:t>
            </a:r>
          </a:p>
          <a:p xmlns:a="http://schemas.openxmlformats.org/drawingml/2006/main">
            <a:pPr algn="l">
              <a:defRPr sz="1275" b="0">
                <a:solidFill>
                  <a:srgbClr val="182126"/>
                </a:solidFill>
              </a:defRPr>
            </a:pPr>
            <a:r>
              <a:rPr sz="1275" b="0">
                <a:solidFill>
                  <a:srgbClr val="182126"/>
                </a:solidFill>
              </a:rPr>
              <a:t>• 物件ごとの閲覧時間の増加</a:t>
            </a:r>
          </a:p>
          <a:p xmlns:a="http://schemas.openxmlformats.org/drawingml/2006/main">
            <a:pPr algn="l">
              <a:defRPr sz="1275" b="0">
                <a:solidFill>
                  <a:srgbClr val="182126"/>
                </a:solidFill>
              </a:defRPr>
            </a:pPr>
            <a:r>
              <a:rPr sz="1275" b="0">
                <a:solidFill>
                  <a:srgbClr val="182126"/>
                </a:solidFill>
              </a:rPr>
              <a:t>• Before / After 比較機能の利用率</a:t>
            </a:r>
          </a:p>
        </p:txBody>
      </p:sp>
    </p:spTree>
    <p:extLst>
      <p:ext uri="{BB962C8B-B14F-4D97-AF65-F5344CB8AC3E}">
        <p14:creationId xmlns:p14="http://schemas.microsoft.com/office/powerpoint/2010/main" val="13175205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2026-04-30T12:26:08.5750000Z</dcterms:created>
  <dcterms:modified xsi:type="dcterms:W3CDTF">2026-04-30T12:26:08.5750000Z</dcterms:modified>
</coreProperties>
</file>